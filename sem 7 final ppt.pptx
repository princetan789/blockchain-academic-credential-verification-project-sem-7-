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 id="2147483686" r:id="rId2"/>
  </p:sldMasterIdLst>
  <p:notesMasterIdLst>
    <p:notesMasterId r:id="rId13"/>
  </p:notesMasterIdLst>
  <p:handoutMasterIdLst>
    <p:handoutMasterId r:id="rId14"/>
  </p:handoutMasterIdLst>
  <p:sldIdLst>
    <p:sldId id="277" r:id="rId3"/>
    <p:sldId id="399" r:id="rId4"/>
    <p:sldId id="400" r:id="rId5"/>
    <p:sldId id="401" r:id="rId6"/>
    <p:sldId id="413" r:id="rId7"/>
    <p:sldId id="415" r:id="rId8"/>
    <p:sldId id="414" r:id="rId9"/>
    <p:sldId id="411" r:id="rId10"/>
    <p:sldId id="405" r:id="rId11"/>
    <p:sldId id="40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74" autoAdjust="0"/>
    <p:restoredTop sz="94660" autoAdjust="0"/>
  </p:normalViewPr>
  <p:slideViewPr>
    <p:cSldViewPr snapToGrid="0">
      <p:cViewPr varScale="1">
        <p:scale>
          <a:sx n="82" d="100"/>
          <a:sy n="82" d="100"/>
        </p:scale>
        <p:origin x="946"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7" d="100"/>
          <a:sy n="67" d="100"/>
        </p:scale>
        <p:origin x="-3168"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660"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6053794"/>
            <a:ext cx="12196420" cy="439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679075" y="2072478"/>
            <a:ext cx="6829425" cy="1499787"/>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000" i="1" dirty="0">
                <a:solidFill>
                  <a:srgbClr val="000000"/>
                </a:solidFill>
              </a:rPr>
              <a:t>Submitted in the partial fulfillment for the award of the degree of</a:t>
            </a:r>
          </a:p>
          <a:p>
            <a:pPr algn="ctr">
              <a:lnSpc>
                <a:spcPct val="150000"/>
              </a:lnSpc>
            </a:pPr>
            <a:r>
              <a:rPr lang="en-US" sz="2000" b="1" dirty="0">
                <a:solidFill>
                  <a:srgbClr val="000000"/>
                </a:solidFill>
              </a:rPr>
              <a:t>BACHELOR OF ENGINEERING </a:t>
            </a:r>
            <a:endParaRPr lang="en-US" sz="2000" dirty="0">
              <a:solidFill>
                <a:srgbClr val="000000"/>
              </a:solidFill>
            </a:endParaRPr>
          </a:p>
          <a:p>
            <a:pPr algn="ctr">
              <a:lnSpc>
                <a:spcPct val="150000"/>
              </a:lnSpc>
            </a:pPr>
            <a:r>
              <a:rPr lang="en-US" sz="2000" i="1" dirty="0">
                <a:solidFill>
                  <a:srgbClr val="000000"/>
                </a:solidFill>
              </a:rPr>
              <a:t> IN</a:t>
            </a:r>
          </a:p>
          <a:p>
            <a:pPr algn="ctr">
              <a:lnSpc>
                <a:spcPct val="150000"/>
              </a:lnSpc>
            </a:pPr>
            <a:r>
              <a:rPr lang="en-US" sz="2000" b="1" dirty="0">
                <a:solidFill>
                  <a:srgbClr val="000000"/>
                </a:solidFill>
              </a:rPr>
              <a:t> Blockchain Technology </a:t>
            </a:r>
            <a:endParaRPr lang="en-US" sz="2000" dirty="0">
              <a:solidFill>
                <a:srgbClr val="000000"/>
              </a:solidFill>
            </a:endParaRPr>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43345" y="6014156"/>
            <a:ext cx="5882609"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srgbClr val="FF0000"/>
                </a:solidFill>
                <a:latin typeface="Times New Roman" pitchFamily="18" charset="0"/>
                <a:cs typeface="Times New Roman" pitchFamily="18" charset="0"/>
              </a:rPr>
              <a:t>Department of AIT-CSE</a:t>
            </a:r>
            <a:endParaRPr lang="en-US" sz="1600" dirty="0">
              <a:solidFill>
                <a:srgbClr val="FF0000"/>
              </a:solidFill>
              <a:latin typeface="Times New Roman" pitchFamily="18" charset="0"/>
              <a:cs typeface="Times New Roman" pitchFamily="18" charset="0"/>
            </a:endParaRPr>
          </a:p>
        </p:txBody>
      </p:sp>
      <p:sp>
        <p:nvSpPr>
          <p:cNvPr id="26" name="TextBox 25"/>
          <p:cNvSpPr txBox="1">
            <a:spLocks noChangeArrowheads="1"/>
          </p:cNvSpPr>
          <p:nvPr/>
        </p:nvSpPr>
        <p:spPr bwMode="auto">
          <a:xfrm>
            <a:off x="1855240" y="402945"/>
            <a:ext cx="8477097" cy="9541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2800" b="1" kern="100" dirty="0">
                <a:latin typeface="Aptos Display" panose="020B0004020202020204" pitchFamily="34" charset="0"/>
                <a:ea typeface="Calibri" panose="020F0502020204030204" pitchFamily="34" charset="0"/>
                <a:cs typeface="Times New Roman" panose="02020603050405020304" pitchFamily="18" charset="0"/>
              </a:rPr>
              <a:t>Blockchain-Based Academic Credential Verification System: A Proposal for Enhanced Trust and Efficiency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BDCDBBEF-AA6C-4BA6-85B2-A17D7F280E38}" type="slidenum">
              <a:rPr lang="en-US" smtClean="0"/>
              <a:pPr/>
              <a:t>1</a:t>
            </a:fld>
            <a:endParaRPr lang="en-US"/>
          </a:p>
        </p:txBody>
      </p:sp>
      <p:sp>
        <p:nvSpPr>
          <p:cNvPr id="5" name="TextBox 4"/>
          <p:cNvSpPr txBox="1"/>
          <p:nvPr/>
        </p:nvSpPr>
        <p:spPr>
          <a:xfrm>
            <a:off x="860440" y="4210614"/>
            <a:ext cx="3245632" cy="2246769"/>
          </a:xfrm>
          <a:prstGeom prst="rect">
            <a:avLst/>
          </a:prstGeom>
          <a:noFill/>
        </p:spPr>
        <p:txBody>
          <a:bodyPr wrap="none" rtlCol="0">
            <a:spAutoFit/>
          </a:bodyPr>
          <a:lstStyle/>
          <a:p>
            <a:r>
              <a:rPr lang="en-US" sz="2000" b="1" dirty="0"/>
              <a:t>Submitted by: </a:t>
            </a:r>
          </a:p>
          <a:p>
            <a:r>
              <a:rPr lang="en-US" sz="2000" dirty="0"/>
              <a:t>Ashish </a:t>
            </a:r>
            <a:r>
              <a:rPr lang="en-US" sz="2000" dirty="0" err="1"/>
              <a:t>Khadotra</a:t>
            </a:r>
            <a:r>
              <a:rPr lang="en-US" sz="2000" dirty="0"/>
              <a:t> 22BCT10103</a:t>
            </a:r>
          </a:p>
          <a:p>
            <a:r>
              <a:rPr lang="en-US" sz="2000" dirty="0"/>
              <a:t>Prince Tanwar 22BCT10085</a:t>
            </a:r>
          </a:p>
          <a:p>
            <a:r>
              <a:rPr lang="en-US" sz="2000" dirty="0"/>
              <a:t>Yash Chaudhary 22BCT10101</a:t>
            </a:r>
          </a:p>
          <a:p>
            <a:r>
              <a:rPr lang="en-US" sz="2000" dirty="0" err="1"/>
              <a:t>Vidhan</a:t>
            </a:r>
            <a:r>
              <a:rPr lang="en-US" sz="2000" dirty="0"/>
              <a:t> Shukla  22BCT10106</a:t>
            </a:r>
          </a:p>
          <a:p>
            <a:endParaRPr lang="en-US" sz="2000" dirty="0"/>
          </a:p>
          <a:p>
            <a:endParaRPr lang="en-US" sz="2000" dirty="0"/>
          </a:p>
        </p:txBody>
      </p:sp>
      <p:sp>
        <p:nvSpPr>
          <p:cNvPr id="6" name="TextBox 5"/>
          <p:cNvSpPr txBox="1"/>
          <p:nvPr/>
        </p:nvSpPr>
        <p:spPr>
          <a:xfrm>
            <a:off x="7681250" y="4725655"/>
            <a:ext cx="3350597" cy="1015663"/>
          </a:xfrm>
          <a:prstGeom prst="rect">
            <a:avLst/>
          </a:prstGeom>
          <a:noFill/>
        </p:spPr>
        <p:txBody>
          <a:bodyPr wrap="none" rtlCol="0">
            <a:spAutoFit/>
          </a:bodyPr>
          <a:lstStyle/>
          <a:p>
            <a:r>
              <a:rPr lang="en-US" sz="2000" b="1" dirty="0"/>
              <a:t>Under the Supervision of: </a:t>
            </a:r>
            <a:endParaRPr lang="en-US" sz="2000" dirty="0"/>
          </a:p>
          <a:p>
            <a:r>
              <a:rPr lang="en-IN" sz="2000" dirty="0">
                <a:solidFill>
                  <a:srgbClr val="FF0000"/>
                </a:solidFill>
                <a:latin typeface="Roboto" panose="020F0502020204030204" pitchFamily="2" charset="0"/>
              </a:rPr>
              <a:t>Mr. Shakshi </a:t>
            </a:r>
            <a:r>
              <a:rPr lang="en-IN" sz="2000" dirty="0" err="1">
                <a:solidFill>
                  <a:srgbClr val="FF0000"/>
                </a:solidFill>
                <a:latin typeface="Roboto" panose="020F0502020204030204" pitchFamily="2" charset="0"/>
              </a:rPr>
              <a:t>Kattna</a:t>
            </a:r>
            <a:endParaRPr lang="en-US" sz="2000" dirty="0"/>
          </a:p>
          <a:p>
            <a:endParaRPr lang="en-US" sz="2000" dirty="0"/>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676" y="365126"/>
            <a:ext cx="10515600" cy="976206"/>
          </a:xfrm>
        </p:spPr>
        <p:txBody>
          <a:bodyPr/>
          <a:lstStyle/>
          <a:p>
            <a:r>
              <a:rPr lang="en-US" b="1" dirty="0">
                <a:latin typeface="Times New Roman"/>
                <a:cs typeface="Times New Roman"/>
              </a:rPr>
              <a:t>Outline</a:t>
            </a:r>
          </a:p>
        </p:txBody>
      </p:sp>
      <p:sp>
        <p:nvSpPr>
          <p:cNvPr id="3" name="Content Placeholder 2"/>
          <p:cNvSpPr>
            <a:spLocks noGrp="1"/>
          </p:cNvSpPr>
          <p:nvPr>
            <p:ph idx="1"/>
          </p:nvPr>
        </p:nvSpPr>
        <p:spPr>
          <a:xfrm>
            <a:off x="838200" y="1588220"/>
            <a:ext cx="10515600" cy="4952253"/>
          </a:xfrm>
        </p:spPr>
        <p:txBody>
          <a:bodyPr>
            <a:normAutofit/>
          </a:bodyPr>
          <a:lstStyle/>
          <a:p>
            <a:r>
              <a:rPr lang="en-US" dirty="0">
                <a:latin typeface="Times New Roman"/>
                <a:cs typeface="Times New Roman"/>
              </a:rPr>
              <a:t>Introduction to Project</a:t>
            </a:r>
          </a:p>
          <a:p>
            <a:r>
              <a:rPr lang="en-US" dirty="0">
                <a:latin typeface="Times New Roman"/>
                <a:cs typeface="Times New Roman"/>
              </a:rPr>
              <a:t>Problem Formulation</a:t>
            </a:r>
          </a:p>
          <a:p>
            <a:r>
              <a:rPr lang="en-US" dirty="0">
                <a:latin typeface="Times New Roman"/>
                <a:cs typeface="Times New Roman"/>
              </a:rPr>
              <a:t>Objectives of the work </a:t>
            </a:r>
          </a:p>
          <a:p>
            <a:r>
              <a:rPr lang="en-US" dirty="0">
                <a:latin typeface="Times New Roman"/>
                <a:cs typeface="Times New Roman"/>
              </a:rPr>
              <a:t>Methodology used</a:t>
            </a:r>
          </a:p>
          <a:p>
            <a:r>
              <a:rPr lang="en-US" spc="-10" dirty="0">
                <a:latin typeface="Times New Roman"/>
                <a:cs typeface="Times New Roman"/>
              </a:rPr>
              <a:t>Results and Outputs</a:t>
            </a:r>
          </a:p>
          <a:p>
            <a:r>
              <a:rPr lang="en-US" spc="-10" dirty="0">
                <a:latin typeface="Times New Roman"/>
                <a:cs typeface="Times New Roman"/>
              </a:rPr>
              <a:t>Conclusion</a:t>
            </a:r>
          </a:p>
          <a:p>
            <a:r>
              <a:rPr lang="en-US" dirty="0">
                <a:latin typeface="Times New Roman"/>
                <a:cs typeface="Times New Roman"/>
              </a:rPr>
              <a:t>Future Scope</a:t>
            </a:r>
            <a:endParaRPr lang="en-US" dirty="0"/>
          </a:p>
          <a:p>
            <a:pPr marL="0"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260598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9849"/>
            <a:ext cx="10515600" cy="1325563"/>
          </a:xfrm>
        </p:spPr>
        <p:txBody>
          <a:bodyPr/>
          <a:lstStyle/>
          <a:p>
            <a:r>
              <a:rPr lang="en-US" dirty="0"/>
              <a:t>Introduction to Project </a:t>
            </a:r>
          </a:p>
        </p:txBody>
      </p:sp>
      <p:sp>
        <p:nvSpPr>
          <p:cNvPr id="3" name="Content Placeholder 2"/>
          <p:cNvSpPr>
            <a:spLocks noGrp="1"/>
          </p:cNvSpPr>
          <p:nvPr>
            <p:ph idx="1"/>
          </p:nvPr>
        </p:nvSpPr>
        <p:spPr>
          <a:xfrm>
            <a:off x="484517" y="1200127"/>
            <a:ext cx="10515600" cy="5657873"/>
          </a:xfrm>
        </p:spPr>
        <p:txBody>
          <a:bodyPr>
            <a:normAutofit/>
          </a:bodyPr>
          <a:lstStyle/>
          <a:p>
            <a:pPr algn="just"/>
            <a:r>
              <a:rPr lang="en-US" dirty="0">
                <a:latin typeface="Times New Roman" panose="02020603050405020304" pitchFamily="18" charset="0"/>
                <a:cs typeface="Times New Roman" panose="02020603050405020304" pitchFamily="18" charset="0"/>
              </a:rPr>
              <a:t>   In today’s digital era, academic credential verification remains a challenging process due to its dependency on centralized authorities, manual validation, and paper-based records. This often results in delays, fraud, and administrative inefficiencies. The proposed project introduces a blockchain-based system designed to enhance the security, trust, and transparency of academic credential management. By leveraging blockchain’s decentralized and immutable nature, the system allows institutions to issue certificates digitally, students to own and share them securely, and employers or verifiers to confirm their authenticity instantly. This ensures that academic credentials are tamper-proof, permanently recorded, and accessible in real-time, creating a trustworthy and efficient ecosystem for all stakeholders.</a:t>
            </a:r>
            <a:endParaRPr lang="en-US" b="0" i="0" dirty="0">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340101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838" y="278985"/>
            <a:ext cx="10515600" cy="1325563"/>
          </a:xfrm>
        </p:spPr>
        <p:txBody>
          <a:bodyPr/>
          <a:lstStyle/>
          <a:p>
            <a:r>
              <a:rPr lang="en-US" dirty="0"/>
              <a:t>Problem Formulation</a:t>
            </a:r>
          </a:p>
        </p:txBody>
      </p:sp>
      <p:sp>
        <p:nvSpPr>
          <p:cNvPr id="3" name="Content Placeholder 2"/>
          <p:cNvSpPr>
            <a:spLocks noGrp="1"/>
          </p:cNvSpPr>
          <p:nvPr>
            <p:ph idx="1"/>
          </p:nvPr>
        </p:nvSpPr>
        <p:spPr>
          <a:xfrm>
            <a:off x="838200" y="1304782"/>
            <a:ext cx="10515600" cy="5416693"/>
          </a:xfrm>
        </p:spPr>
        <p:txBody>
          <a:bodyPr>
            <a:normAutofit/>
          </a:bodyPr>
          <a:lstStyle/>
          <a:p>
            <a:pPr algn="just"/>
            <a:r>
              <a:rPr lang="en-US" dirty="0">
                <a:latin typeface="Times New Roman" panose="02020603050405020304" pitchFamily="18" charset="0"/>
                <a:cs typeface="Times New Roman" panose="02020603050405020304" pitchFamily="18" charset="0"/>
              </a:rPr>
              <a:t>The traditional academic credential verification process is slow, costly, and prone to manipulation. Institutions often rely on manual verification procedures, which involve contacting issuing authorities, leading to significant delays. Fake or forged certificates have become increasingly common, undermining the credibility of both educational institutions and employers. Centralized data storage systems are also at risk of unauthorized access, data breaches, or corruption. Moreover, there is no standardized global platform for instant credential verification. These challenges highlight the urgent need for a secure, transparent, and automated system that can validate academic credentials quickly and accurately without the need for intermediaries — a challenge that blockchain technology can effectively address.</a:t>
            </a:r>
            <a:endParaRPr lang="en-US" b="0" i="0" dirty="0">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409303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BA365-136E-A3F9-856C-3640F92F8ACC}"/>
              </a:ext>
            </a:extLst>
          </p:cNvPr>
          <p:cNvSpPr>
            <a:spLocks noGrp="1"/>
          </p:cNvSpPr>
          <p:nvPr>
            <p:ph type="title"/>
          </p:nvPr>
        </p:nvSpPr>
        <p:spPr>
          <a:xfrm>
            <a:off x="898585" y="310757"/>
            <a:ext cx="10515600" cy="1325563"/>
          </a:xfrm>
        </p:spPr>
        <p:txBody>
          <a:bodyPr/>
          <a:lstStyle/>
          <a:p>
            <a:r>
              <a:rPr lang="en-US" dirty="0"/>
              <a:t>Objectives of the Work</a:t>
            </a:r>
            <a:endParaRPr lang="en-IN" dirty="0"/>
          </a:p>
        </p:txBody>
      </p:sp>
      <p:sp>
        <p:nvSpPr>
          <p:cNvPr id="7" name="Rectangle 3">
            <a:extLst>
              <a:ext uri="{FF2B5EF4-FFF2-40B4-BE49-F238E27FC236}">
                <a16:creationId xmlns:a16="http://schemas.microsoft.com/office/drawing/2014/main" id="{4A0525FB-AB09-5A64-CC1E-2EE28C2AB168}"/>
              </a:ext>
            </a:extLst>
          </p:cNvPr>
          <p:cNvSpPr>
            <a:spLocks noGrp="1" noChangeArrowheads="1"/>
          </p:cNvSpPr>
          <p:nvPr>
            <p:ph idx="1"/>
          </p:nvPr>
        </p:nvSpPr>
        <p:spPr bwMode="auto">
          <a:xfrm>
            <a:off x="838200" y="973539"/>
            <a:ext cx="10515600" cy="2221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endParaRPr lang="en-US" sz="14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02852387-0646-4443-74B5-FA0AEC9F703A}"/>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F7DE51EF-BFB0-0C87-6FF0-0E379F453D3D}"/>
              </a:ext>
            </a:extLst>
          </p:cNvPr>
          <p:cNvSpPr txBox="1"/>
          <p:nvPr/>
        </p:nvSpPr>
        <p:spPr>
          <a:xfrm>
            <a:off x="838200" y="1319334"/>
            <a:ext cx="10263997" cy="5262979"/>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primary objective of this project is to develop a decentralized platform that ensures the authenticity and immutability of academic credentials. The system aims to automate the process of credential issuance, verification, and revocation using blockchain smart contracts, thereby eliminating human intervention and reducing administrative overhead. Another major goal is to enable instant verification by employers or other institutions, reducing processing time from days to seconds. Additionally, the project seeks to promote transparency, prevent fraud, and create a universal verification framework adaptable across different educational systems. Through this initiative, the project envisions a secure, efficient, and scalable model for future educational infrastructure.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1175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83DE8-5500-C1F1-3251-65C8242287EF}"/>
              </a:ext>
            </a:extLst>
          </p:cNvPr>
          <p:cNvSpPr>
            <a:spLocks noGrp="1"/>
          </p:cNvSpPr>
          <p:nvPr>
            <p:ph type="title"/>
          </p:nvPr>
        </p:nvSpPr>
        <p:spPr>
          <a:xfrm>
            <a:off x="754970" y="155275"/>
            <a:ext cx="8596668" cy="1320800"/>
          </a:xfrm>
        </p:spPr>
        <p:txBody>
          <a:bodyPr/>
          <a:lstStyle/>
          <a:p>
            <a:r>
              <a:rPr lang="en-US" dirty="0"/>
              <a:t>Objectives of the Work</a:t>
            </a:r>
            <a:endParaRPr lang="en-IN" dirty="0"/>
          </a:p>
        </p:txBody>
      </p:sp>
      <p:sp>
        <p:nvSpPr>
          <p:cNvPr id="3" name="Content Placeholder 2">
            <a:extLst>
              <a:ext uri="{FF2B5EF4-FFF2-40B4-BE49-F238E27FC236}">
                <a16:creationId xmlns:a16="http://schemas.microsoft.com/office/drawing/2014/main" id="{CCD133B6-42DD-D5F9-C091-CDCBAADF0DAE}"/>
              </a:ext>
            </a:extLst>
          </p:cNvPr>
          <p:cNvSpPr>
            <a:spLocks noGrp="1"/>
          </p:cNvSpPr>
          <p:nvPr>
            <p:ph idx="1"/>
          </p:nvPr>
        </p:nvSpPr>
        <p:spPr>
          <a:xfrm>
            <a:off x="754970" y="1290205"/>
            <a:ext cx="10019421" cy="5567795"/>
          </a:xfrm>
        </p:spPr>
        <p:txBody>
          <a:bodyPr>
            <a:normAutofit/>
          </a:bodyPr>
          <a:lstStyle/>
          <a:p>
            <a:pPr algn="just"/>
            <a:r>
              <a:rPr lang="en-US" dirty="0">
                <a:latin typeface="Times New Roman" panose="02020603050405020304" pitchFamily="18" charset="0"/>
                <a:cs typeface="Times New Roman" panose="02020603050405020304" pitchFamily="18" charset="0"/>
              </a:rPr>
              <a:t>Key Objectives:</a:t>
            </a:r>
          </a:p>
          <a:p>
            <a:pPr marL="0" indent="0" algn="just">
              <a:buNone/>
            </a:pPr>
            <a:r>
              <a:rPr lang="en-US" dirty="0">
                <a:latin typeface="Times New Roman" panose="02020603050405020304" pitchFamily="18" charset="0"/>
                <a:cs typeface="Times New Roman" panose="02020603050405020304" pitchFamily="18" charset="0"/>
              </a:rPr>
              <a:t>To ensure authenticity and immutability of academic credentials using blockchain’s decentralized ledger.</a:t>
            </a:r>
          </a:p>
          <a:p>
            <a:pPr marL="0" indent="0" algn="just">
              <a:buNone/>
            </a:pPr>
            <a:r>
              <a:rPr lang="en-US" dirty="0">
                <a:latin typeface="Times New Roman" panose="02020603050405020304" pitchFamily="18" charset="0"/>
                <a:cs typeface="Times New Roman" panose="02020603050405020304" pitchFamily="18" charset="0"/>
              </a:rPr>
              <a:t>To automate the issuance and verification process through smart contracts, reducing manual dependency and administrative time.</a:t>
            </a:r>
          </a:p>
          <a:p>
            <a:pPr marL="0" indent="0" algn="just">
              <a:buNone/>
            </a:pPr>
            <a:r>
              <a:rPr lang="en-US" dirty="0">
                <a:latin typeface="Times New Roman" panose="02020603050405020304" pitchFamily="18" charset="0"/>
                <a:cs typeface="Times New Roman" panose="02020603050405020304" pitchFamily="18" charset="0"/>
              </a:rPr>
              <a:t>To build a scalable and transparent platform that allows instant verification of credentials by institutions and employers across regions.</a:t>
            </a:r>
          </a:p>
          <a:p>
            <a:pPr>
              <a:buNone/>
            </a:pPr>
            <a:endParaRPr lang="en-US" dirty="0"/>
          </a:p>
          <a:p>
            <a:endParaRPr lang="en-IN" dirty="0"/>
          </a:p>
        </p:txBody>
      </p:sp>
      <p:sp>
        <p:nvSpPr>
          <p:cNvPr id="4" name="Slide Number Placeholder 3">
            <a:extLst>
              <a:ext uri="{FF2B5EF4-FFF2-40B4-BE49-F238E27FC236}">
                <a16:creationId xmlns:a16="http://schemas.microsoft.com/office/drawing/2014/main" id="{0B15508D-E650-DBD4-41E7-D82994EE9518}"/>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1442819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46401-736E-AD18-1388-EEAE541EC2EC}"/>
              </a:ext>
            </a:extLst>
          </p:cNvPr>
          <p:cNvSpPr>
            <a:spLocks noGrp="1"/>
          </p:cNvSpPr>
          <p:nvPr>
            <p:ph type="title"/>
          </p:nvPr>
        </p:nvSpPr>
        <p:spPr>
          <a:xfrm>
            <a:off x="838200" y="227226"/>
            <a:ext cx="8596668" cy="1320800"/>
          </a:xfrm>
        </p:spPr>
        <p:txBody>
          <a:bodyPr>
            <a:normAutofit/>
          </a:bodyPr>
          <a:lstStyle/>
          <a:p>
            <a:r>
              <a:rPr lang="en-IN" dirty="0"/>
              <a:t>Methodology Used</a:t>
            </a:r>
          </a:p>
        </p:txBody>
      </p:sp>
      <p:sp>
        <p:nvSpPr>
          <p:cNvPr id="3" name="Content Placeholder 2">
            <a:extLst>
              <a:ext uri="{FF2B5EF4-FFF2-40B4-BE49-F238E27FC236}">
                <a16:creationId xmlns:a16="http://schemas.microsoft.com/office/drawing/2014/main" id="{F8C61549-3A48-B2F3-8941-18C7CB44F9DA}"/>
              </a:ext>
            </a:extLst>
          </p:cNvPr>
          <p:cNvSpPr>
            <a:spLocks noGrp="1"/>
          </p:cNvSpPr>
          <p:nvPr>
            <p:ph idx="1"/>
          </p:nvPr>
        </p:nvSpPr>
        <p:spPr>
          <a:xfrm>
            <a:off x="838200" y="1328073"/>
            <a:ext cx="10515600" cy="5417783"/>
          </a:xfrm>
        </p:spPr>
        <p:txBody>
          <a:bodyPr>
            <a:noAutofit/>
          </a:bodyPr>
          <a:lstStyle/>
          <a:p>
            <a:pPr algn="just"/>
            <a:r>
              <a:rPr lang="en-US" dirty="0">
                <a:latin typeface="Times New Roman" panose="02020603050405020304" pitchFamily="18" charset="0"/>
                <a:cs typeface="Times New Roman" panose="02020603050405020304" pitchFamily="18" charset="0"/>
              </a:rPr>
              <a:t>The proposed system is developed on the Ethereum blockchain (</a:t>
            </a:r>
            <a:r>
              <a:rPr lang="en-US" dirty="0" err="1">
                <a:latin typeface="Times New Roman" panose="02020603050405020304" pitchFamily="18" charset="0"/>
                <a:cs typeface="Times New Roman" panose="02020603050405020304" pitchFamily="18" charset="0"/>
              </a:rPr>
              <a:t>Goerli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Testnet</a:t>
            </a:r>
            <a:r>
              <a:rPr lang="en-US" dirty="0">
                <a:latin typeface="Times New Roman" panose="02020603050405020304" pitchFamily="18" charset="0"/>
                <a:cs typeface="Times New Roman" panose="02020603050405020304" pitchFamily="18" charset="0"/>
              </a:rPr>
              <a:t>) using Solidity smart contracts that define the rules for issuing, verifying, and revoking credentials. The frontend of the system is built with React.js, providing an intuitive and responsive user interface for students, institutions, and verifiers. The backend is implemented using Node.js and Express.js, which connect the web application with the blockchain via Web3.js. To manage document storage efficiently, the system uses </a:t>
            </a:r>
            <a:r>
              <a:rPr lang="en-US" dirty="0" err="1">
                <a:latin typeface="Times New Roman" panose="02020603050405020304" pitchFamily="18" charset="0"/>
                <a:cs typeface="Times New Roman" panose="02020603050405020304" pitchFamily="18" charset="0"/>
              </a:rPr>
              <a:t>InterPlanetary</a:t>
            </a:r>
            <a:r>
              <a:rPr lang="en-US" dirty="0">
                <a:latin typeface="Times New Roman" panose="02020603050405020304" pitchFamily="18" charset="0"/>
                <a:cs typeface="Times New Roman" panose="02020603050405020304" pitchFamily="18" charset="0"/>
              </a:rPr>
              <a:t> File System (IPFS) for decentralized file storage, ensuring that academic certificates are permanently accessible but securely stored off-chain. For user authentication, MetaMask wallets are integrated, allowing users to securely sign blockchain transactions. This combination ensures a transparent, secure, and seamless interaction between users and the blockchain network.</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1E02587-BA0B-A38A-0618-5F13DDA8D22B}"/>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1349329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2B82D-DFFB-D9BE-B0E5-4533E6CF28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351A4D-FEFE-670C-A712-F03B484C92BE}"/>
              </a:ext>
            </a:extLst>
          </p:cNvPr>
          <p:cNvSpPr>
            <a:spLocks noGrp="1"/>
          </p:cNvSpPr>
          <p:nvPr>
            <p:ph type="title"/>
          </p:nvPr>
        </p:nvSpPr>
        <p:spPr>
          <a:xfrm>
            <a:off x="838200" y="161924"/>
            <a:ext cx="10515600" cy="1325563"/>
          </a:xfrm>
        </p:spPr>
        <p:txBody>
          <a:bodyPr/>
          <a:lstStyle/>
          <a:p>
            <a:r>
              <a:rPr lang="en-US" dirty="0"/>
              <a:t>Results and Outputs</a:t>
            </a:r>
          </a:p>
        </p:txBody>
      </p:sp>
      <p:sp>
        <p:nvSpPr>
          <p:cNvPr id="3" name="Content Placeholder 2">
            <a:extLst>
              <a:ext uri="{FF2B5EF4-FFF2-40B4-BE49-F238E27FC236}">
                <a16:creationId xmlns:a16="http://schemas.microsoft.com/office/drawing/2014/main" id="{957245AE-0E6B-F3FB-F9BE-D346491BEE67}"/>
              </a:ext>
            </a:extLst>
          </p:cNvPr>
          <p:cNvSpPr>
            <a:spLocks noGrp="1"/>
          </p:cNvSpPr>
          <p:nvPr>
            <p:ph idx="1"/>
          </p:nvPr>
        </p:nvSpPr>
        <p:spPr>
          <a:xfrm>
            <a:off x="838200" y="1306332"/>
            <a:ext cx="10515600" cy="5551668"/>
          </a:xfrm>
        </p:spPr>
        <p:txBody>
          <a:bodyPr>
            <a:normAutofit/>
          </a:bodyPr>
          <a:lstStyle/>
          <a:p>
            <a:pPr algn="just"/>
            <a:r>
              <a:rPr lang="en-US" dirty="0">
                <a:latin typeface="Times New Roman" panose="02020603050405020304" pitchFamily="18" charset="0"/>
                <a:cs typeface="Times New Roman" panose="02020603050405020304" pitchFamily="18" charset="0"/>
              </a:rPr>
              <a:t>The implementation of the blockchain-based credential verification system was successfully completed and tested. Smart contracts were deployed on the Ethereum test network, ensuring that all credential-related operations were automated and transparent. Institutions were able to issue credentials that were permanently stored on the blockchain, while students could access and share their credentials anytime. Verifiers were able to confirm authenticity instantly using the credential ID or hash. The system achieved verification within 10–12 seconds per transaction, with minimal gas costs ranging from 0.0003 to 0.0005 ETH. Furthermore, credentials stored on IPFS were securely retrievable and tamper-proof. Testing confirmed 100% verification accuracy and smooth execution of all functions, demonstrating that the system is secure, reliable, and efficient for real-world use.</a:t>
            </a:r>
            <a:endParaRPr lang="en-US" i="0" baseline="30000" dirty="0">
              <a:solidFill>
                <a:srgbClr val="ECECEC"/>
              </a:solidFill>
              <a:effectLs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5BCC37D-E52F-3DA4-A36F-0144E2782632}"/>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3558503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r>
              <a:rPr lang="en-US" dirty="0"/>
              <a:t>Conclusion</a:t>
            </a:r>
          </a:p>
        </p:txBody>
      </p:sp>
      <p:sp>
        <p:nvSpPr>
          <p:cNvPr id="3" name="Content Placeholder 2"/>
          <p:cNvSpPr>
            <a:spLocks noGrp="1"/>
          </p:cNvSpPr>
          <p:nvPr>
            <p:ph idx="1"/>
          </p:nvPr>
        </p:nvSpPr>
        <p:spPr>
          <a:xfrm>
            <a:off x="838200" y="1118597"/>
            <a:ext cx="10515600" cy="5663195"/>
          </a:xfrm>
        </p:spPr>
        <p:txBody>
          <a:bodyPr>
            <a:normAutofit/>
          </a:bodyPr>
          <a:lstStyle/>
          <a:p>
            <a:pPr algn="just"/>
            <a:r>
              <a:rPr lang="en-US" dirty="0">
                <a:latin typeface="Times New Roman" panose="02020603050405020304" pitchFamily="18" charset="0"/>
                <a:cs typeface="Times New Roman" panose="02020603050405020304" pitchFamily="18" charset="0"/>
              </a:rPr>
              <a:t>This project successfully demonstrates how blockchain technology can revolutionize the way academic credentials are managed and verified. By integrating blockchain, smart contracts, and decentralized storage, the system ensures that every issued credential is authentic, immutable, and verifiable in real time. The solution eliminates the risk of certificate forgery, reduces the need for manual verification, and increases institutional efficiency. Moreover, it empowers students with complete control over their credentials, allowing them to share their achievements securely across institutions and employers worldwide. The project lays the foundation for a transparent and trust-based educational ecosystem that aligns with the digital transformation goals of the academic sector.</a:t>
            </a: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880465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2443"/>
            <a:ext cx="8596668" cy="1320800"/>
          </a:xfrm>
        </p:spPr>
        <p:txBody>
          <a:bodyPr/>
          <a:lstStyle/>
          <a:p>
            <a:r>
              <a:rPr lang="en-US" dirty="0"/>
              <a:t>Future Scope </a:t>
            </a:r>
          </a:p>
        </p:txBody>
      </p:sp>
      <p:sp>
        <p:nvSpPr>
          <p:cNvPr id="3" name="Content Placeholder 2"/>
          <p:cNvSpPr>
            <a:spLocks noGrp="1"/>
          </p:cNvSpPr>
          <p:nvPr>
            <p:ph idx="1"/>
          </p:nvPr>
        </p:nvSpPr>
        <p:spPr>
          <a:xfrm>
            <a:off x="838200" y="1421919"/>
            <a:ext cx="10515600" cy="5127925"/>
          </a:xfrm>
        </p:spPr>
        <p:txBody>
          <a:bodyPr>
            <a:normAutofit/>
          </a:bodyPr>
          <a:lstStyle/>
          <a:p>
            <a:pPr algn="just"/>
            <a:r>
              <a:rPr lang="en-US" dirty="0"/>
              <a:t> </a:t>
            </a:r>
            <a:r>
              <a:rPr lang="en-US" dirty="0">
                <a:latin typeface="Times New Roman" panose="02020603050405020304" pitchFamily="18" charset="0"/>
                <a:cs typeface="Times New Roman" panose="02020603050405020304" pitchFamily="18" charset="0"/>
              </a:rPr>
              <a:t>In the future, this system can be enhanced by integrating Self-Sovereign Identity (SSI) and Decentralized Identifiers (DIDs) to give students greater control over their digital identity and academic records. The system can also be expanded into a hybrid or consortium blockchain network to handle large-scale adoption by universities and government bodies. Additionally, an AI-based fraud detection module can be integrated to identify suspicious verification patterns and ensure added security. The development of a mobile application would make verification faster and more accessible. Global partnerships between universities can lead to a unified blockchain education network, standardizing credential verification across countries and institutions.</a:t>
            </a:r>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16" name="Rectangle 12">
            <a:extLst>
              <a:ext uri="{FF2B5EF4-FFF2-40B4-BE49-F238E27FC236}">
                <a16:creationId xmlns:a16="http://schemas.microsoft.com/office/drawing/2014/main" id="{D9BED389-F7D3-C55C-0D24-B151C940B7EB}"/>
              </a:ext>
            </a:extLst>
          </p:cNvPr>
          <p:cNvSpPr>
            <a:spLocks noChangeArrowheads="1"/>
          </p:cNvSpPr>
          <p:nvPr/>
        </p:nvSpPr>
        <p:spPr bwMode="auto">
          <a:xfrm>
            <a:off x="0" y="0"/>
            <a:ext cx="2120900" cy="0"/>
          </a:xfrm>
          <a:prstGeom prst="rect">
            <a:avLst/>
          </a:prstGeom>
          <a:solidFill>
            <a:srgbClr val="2121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2428375"/>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6312</TotalTime>
  <Words>1046</Words>
  <Application>Microsoft Office PowerPoint</Application>
  <PresentationFormat>Widescreen</PresentationFormat>
  <Paragraphs>60</Paragraphs>
  <Slides>10</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Aptos Display</vt:lpstr>
      <vt:lpstr>Arial</vt:lpstr>
      <vt:lpstr>Calibri</vt:lpstr>
      <vt:lpstr>Calibri Light</vt:lpstr>
      <vt:lpstr>Casper</vt:lpstr>
      <vt:lpstr>Roboto</vt:lpstr>
      <vt:lpstr>Söhne</vt:lpstr>
      <vt:lpstr>Times New Roman</vt:lpstr>
      <vt:lpstr>2_Office Theme</vt:lpstr>
      <vt:lpstr>Contents Slide Master</vt:lpstr>
      <vt:lpstr>PowerPoint Presentation</vt:lpstr>
      <vt:lpstr>Outline</vt:lpstr>
      <vt:lpstr>Introduction to Project </vt:lpstr>
      <vt:lpstr>Problem Formulation</vt:lpstr>
      <vt:lpstr>Objectives of the Work</vt:lpstr>
      <vt:lpstr>Objectives of the Work</vt:lpstr>
      <vt:lpstr>Methodology Used</vt:lpstr>
      <vt:lpstr>Results and Outputs</vt:lpstr>
      <vt:lpstr>Conclusion</vt:lpstr>
      <vt:lpstr>Future Scope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Prince Tanwar Rajput</cp:lastModifiedBy>
  <cp:revision>498</cp:revision>
  <dcterms:created xsi:type="dcterms:W3CDTF">2019-01-09T10:33:58Z</dcterms:created>
  <dcterms:modified xsi:type="dcterms:W3CDTF">2025-11-07T20:16:16Z</dcterms:modified>
</cp:coreProperties>
</file>